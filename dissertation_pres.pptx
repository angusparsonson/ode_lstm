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69974" autoAdjust="0"/>
  </p:normalViewPr>
  <p:slideViewPr>
    <p:cSldViewPr snapToGrid="0">
      <p:cViewPr varScale="1">
        <p:scale>
          <a:sx n="58" d="100"/>
          <a:sy n="58" d="100"/>
        </p:scale>
        <p:origin x="6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ADC0E-720D-496E-ACD2-32C3F04B9844}" type="datetimeFigureOut">
              <a:rPr lang="en-US" smtClean="0"/>
              <a:t>07-May-21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E9ED8-5298-45AA-93B0-53615D191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61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CDA is fixed duration auction mechanism by which multiple buyers and sellers compete to buy and sell goods.</a:t>
            </a:r>
          </a:p>
          <a:p>
            <a:endParaRPr lang="en-US" dirty="0"/>
          </a:p>
          <a:p>
            <a:r>
              <a:rPr lang="en-US" dirty="0"/>
              <a:t>Buyers and sellers can enter orders at any time.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758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added using “limit orders” representing an instruction to buy or sell at a particular price or better.</a:t>
            </a:r>
          </a:p>
          <a:p>
            <a:endParaRPr lang="en-US" dirty="0"/>
          </a:p>
          <a:p>
            <a:r>
              <a:rPr lang="en-US" dirty="0"/>
              <a:t>Level 1 (top-of-book) = only best (highest) bid, and best (lowest) ask along with corresponding quantities.</a:t>
            </a:r>
          </a:p>
          <a:p>
            <a:endParaRPr lang="en-US" dirty="0"/>
          </a:p>
          <a:p>
            <a:r>
              <a:rPr lang="en-US" dirty="0"/>
              <a:t>Level 2 = shows not only top of book but any number of other orders in the book as well.</a:t>
            </a:r>
          </a:p>
          <a:p>
            <a:endParaRPr lang="en-US" dirty="0"/>
          </a:p>
          <a:p>
            <a:r>
              <a:rPr lang="en-US" dirty="0"/>
              <a:t>When bid and ask offers cross over, a transaction occurs.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65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run on very powerful computers geographically near to the exchange (latency is everything)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08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Many widely accepted studies show that financial markets are to some extent predictable.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General agreement that stocks behave in complex ways, with highly nonlinear relationships.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Deep learning is able to capture arbitrary nonlinear relationships with little, or no, prior knowledge regarding the input data.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Potentially more powerful than simple statistical techniques like mean reversion.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53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ODE is a simple equation relating a function f of one variable to its </a:t>
            </a:r>
            <a:r>
              <a:rPr lang="en-US" dirty="0" err="1"/>
              <a:t>derivatices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No partial derivatives.</a:t>
            </a:r>
          </a:p>
          <a:p>
            <a:endParaRPr lang="en-US" dirty="0"/>
          </a:p>
          <a:p>
            <a:r>
              <a:rPr lang="en-US" dirty="0"/>
              <a:t>To solve an ODE is to determine the function (or functions) that satisfy the equation.</a:t>
            </a:r>
          </a:p>
          <a:p>
            <a:endParaRPr lang="en-US" dirty="0"/>
          </a:p>
          <a:p>
            <a:r>
              <a:rPr lang="en-US" dirty="0"/>
              <a:t>ODE solvers make an approximation of a function by using iterative step processes.</a:t>
            </a:r>
          </a:p>
          <a:p>
            <a:endParaRPr lang="en-US" dirty="0"/>
          </a:p>
          <a:p>
            <a:r>
              <a:rPr lang="en-US" dirty="0"/>
              <a:t>In Euler’s method, we use known observations of the underlying function (data points) and step in the direction of the gradient (function we know).</a:t>
            </a:r>
          </a:p>
          <a:p>
            <a:endParaRPr lang="en-US" dirty="0"/>
          </a:p>
          <a:p>
            <a:r>
              <a:rPr lang="en-US" dirty="0"/>
              <a:t>No discrete layers as in a regular neural network, the depth is essentially learnt using backprop through the ODE solver.</a:t>
            </a:r>
          </a:p>
          <a:p>
            <a:endParaRPr lang="en-US" dirty="0"/>
          </a:p>
          <a:p>
            <a:r>
              <a:rPr lang="en-US" dirty="0"/>
              <a:t>Completely continuous neural network.</a:t>
            </a:r>
          </a:p>
          <a:p>
            <a:endParaRPr lang="en-US" dirty="0"/>
          </a:p>
          <a:p>
            <a:r>
              <a:rPr lang="en-US" dirty="0"/>
              <a:t>Intuition behind what inspired the paper is in technical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4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Emailed authors of the Nasdaq benchmark paper and they said it Nasdaq wouldn’t allow the timestamps to be included to prevent full reconstruction of LOB.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99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Dukascopy</a:t>
            </a:r>
            <a:r>
              <a:rPr lang="en-US" dirty="0"/>
              <a:t> Bank is a Swiss company providing online/mobile trading, banking and financial services.</a:t>
            </a:r>
          </a:p>
          <a:p>
            <a:endParaRPr lang="en-US" dirty="0"/>
          </a:p>
          <a:p>
            <a:r>
              <a:rPr lang="en-US" dirty="0"/>
              <a:t>They have a electronic communication network (exchange) called </a:t>
            </a:r>
            <a:r>
              <a:rPr lang="en-US" dirty="0" err="1"/>
              <a:t>SwissFX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They offer top-of-book data to the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63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was </a:t>
            </a:r>
            <a:r>
              <a:rPr lang="en-US" dirty="0" err="1"/>
              <a:t>normalised</a:t>
            </a:r>
            <a:r>
              <a:rPr lang="en-US" dirty="0"/>
              <a:t> with min-max.</a:t>
            </a:r>
          </a:p>
          <a:p>
            <a:endParaRPr lang="en-US" dirty="0"/>
          </a:p>
          <a:p>
            <a:r>
              <a:rPr lang="en-US" dirty="0"/>
              <a:t>Also used batch norm layer.</a:t>
            </a:r>
          </a:p>
          <a:p>
            <a:endParaRPr lang="en-US" dirty="0"/>
          </a:p>
          <a:p>
            <a:r>
              <a:rPr lang="en-US" dirty="0"/>
              <a:t>ODE is 100 to 100 sequential layer with tanh activation, rk4 solver.</a:t>
            </a:r>
          </a:p>
          <a:p>
            <a:endParaRPr lang="en-US" dirty="0"/>
          </a:p>
          <a:p>
            <a:r>
              <a:rPr lang="en-US" dirty="0"/>
              <a:t>Tested network architecture on human activity recognition dataset and was able to achieve 92% accuracy (compared to 89% achieved by original paper).</a:t>
            </a:r>
          </a:p>
          <a:p>
            <a:endParaRPr lang="en-US" dirty="0"/>
          </a:p>
          <a:p>
            <a:r>
              <a:rPr lang="en-US" dirty="0"/>
              <a:t>Some feature extraction improved performance.</a:t>
            </a:r>
          </a:p>
          <a:p>
            <a:endParaRPr lang="en-US" dirty="0"/>
          </a:p>
          <a:p>
            <a:r>
              <a:rPr lang="en-US" dirty="0"/>
              <a:t>Aims to predict 20, 50, and 100 ticks in advance.</a:t>
            </a:r>
          </a:p>
          <a:p>
            <a:endParaRPr lang="en-US" dirty="0"/>
          </a:p>
          <a:p>
            <a:r>
              <a:rPr lang="en-US" dirty="0"/>
              <a:t>Smoothed using exponential running averages for labels.</a:t>
            </a:r>
          </a:p>
          <a:p>
            <a:endParaRPr lang="en-US" dirty="0"/>
          </a:p>
          <a:p>
            <a:r>
              <a:rPr lang="en-US" dirty="0"/>
              <a:t>Can show a graph of what the labelling looks like if needed.</a:t>
            </a:r>
          </a:p>
          <a:p>
            <a:endParaRPr lang="en-US" dirty="0"/>
          </a:p>
          <a:p>
            <a:r>
              <a:rPr lang="en-US" dirty="0"/>
              <a:t>Also built a standard LSTM which was much simpler given </a:t>
            </a:r>
            <a:r>
              <a:rPr lang="en-US" dirty="0" err="1"/>
              <a:t>PyTorch</a:t>
            </a:r>
            <a:r>
              <a:rPr lang="en-US" dirty="0"/>
              <a:t> off-the-shelf implementations.</a:t>
            </a:r>
          </a:p>
          <a:p>
            <a:endParaRPr lang="en-US" dirty="0"/>
          </a:p>
          <a:p>
            <a:r>
              <a:rPr lang="en-US" dirty="0"/>
              <a:t>There is now also a flag in the initialization parameters of the model that allow you to turn off and on the ODE.</a:t>
            </a:r>
          </a:p>
          <a:p>
            <a:endParaRPr lang="en-US" dirty="0"/>
          </a:p>
          <a:p>
            <a:r>
              <a:rPr lang="en-US" dirty="0"/>
              <a:t>Can go into implementation detail like Python libraries used: </a:t>
            </a:r>
            <a:r>
              <a:rPr lang="en-US" dirty="0" err="1"/>
              <a:t>PyTorch</a:t>
            </a:r>
            <a:r>
              <a:rPr lang="en-US" dirty="0"/>
              <a:t> lightning, </a:t>
            </a:r>
            <a:r>
              <a:rPr lang="en-US" dirty="0" err="1"/>
              <a:t>TorchDyn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Numpy</a:t>
            </a:r>
            <a:r>
              <a:rPr lang="en-US" dirty="0"/>
              <a:t>, Seaborn, Pandas, Matplotlib.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8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Implemented ODE-LSTM from scratch using a couple of different libraries.</a:t>
            </a:r>
          </a:p>
          <a:p>
            <a:endParaRPr lang="en-US" dirty="0"/>
          </a:p>
          <a:p>
            <a:r>
              <a:rPr lang="en-US" dirty="0"/>
              <a:t>Precision is how many class correctly declared out of all instances where the algorithm detected the class.</a:t>
            </a:r>
          </a:p>
          <a:p>
            <a:r>
              <a:rPr lang="en-US" dirty="0"/>
              <a:t>Recall Is fraction of classes correctly declared for a class out of all occurrences of that class.</a:t>
            </a:r>
          </a:p>
          <a:p>
            <a:r>
              <a:rPr lang="en-US" dirty="0"/>
              <a:t>F1 is combination of both.</a:t>
            </a:r>
          </a:p>
          <a:p>
            <a:r>
              <a:rPr lang="en-US" dirty="0"/>
              <a:t>Inclusion of false positives and false negatives makes for better measure than plain accuracy.</a:t>
            </a:r>
          </a:p>
          <a:p>
            <a:endParaRPr lang="en-US" dirty="0"/>
          </a:p>
          <a:p>
            <a:r>
              <a:rPr lang="en-US" dirty="0"/>
              <a:t>Trading simulator will use real data and can be run in real time or sped up.</a:t>
            </a:r>
          </a:p>
          <a:p>
            <a:endParaRPr lang="en-US" dirty="0"/>
          </a:p>
          <a:p>
            <a:r>
              <a:rPr lang="en-US" dirty="0"/>
              <a:t>Might consider parallelizing to compete algorithms against each other.</a:t>
            </a:r>
          </a:p>
          <a:p>
            <a:endParaRPr lang="en-US" dirty="0"/>
          </a:p>
          <a:p>
            <a:r>
              <a:rPr lang="en-US" dirty="0"/>
              <a:t>Will also do speed tests of the implementation of the models in a trading simulation.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E9ED8-5298-45AA-93B0-53615D191A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04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07-May-21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A0089-3226-4F83-B429-29607C1AB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898073"/>
            <a:ext cx="8991600" cy="2134591"/>
          </a:xfrm>
        </p:spPr>
        <p:txBody>
          <a:bodyPr>
            <a:noAutofit/>
          </a:bodyPr>
          <a:lstStyle/>
          <a:p>
            <a:r>
              <a:rPr lang="en-US" sz="2800" dirty="0"/>
              <a:t>Building a high-frequency trading algorithm using an ordinary differential equation recurrent neural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F8233-B00A-47FD-882B-B8AD854461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591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D7A9-B2FC-413E-92FA-3BB6B95A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markets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D4BF0-5292-477F-B264-031811A39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place to buy and sell assets.</a:t>
            </a:r>
          </a:p>
          <a:p>
            <a:r>
              <a:rPr lang="en-US" dirty="0"/>
              <a:t>Stocks, bonds, options, foreign currencies etc.</a:t>
            </a:r>
          </a:p>
          <a:p>
            <a:r>
              <a:rPr lang="en-US" dirty="0"/>
              <a:t>The </a:t>
            </a:r>
            <a:r>
              <a:rPr lang="en-US" b="1" dirty="0"/>
              <a:t>exchange</a:t>
            </a:r>
            <a:r>
              <a:rPr lang="en-US" dirty="0"/>
              <a:t> is the mechanism with which traders’ orders are matched with each other.</a:t>
            </a:r>
          </a:p>
          <a:p>
            <a:r>
              <a:rPr lang="en-US" dirty="0"/>
              <a:t>Most work using continuous double auction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314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25E744-2FD1-4C63-9808-186F6448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Limit order book</a:t>
            </a:r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A3C122E3-96A1-436F-AA66-19A3A8EA1D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69368" y="640078"/>
            <a:ext cx="8253264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3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CF11-4DFB-4CA1-9C73-69B004AC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High-frequency trading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5485-EE5A-43FB-B2AE-63D4C9E9A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HFT is a method of trading in these exchanges.</a:t>
            </a:r>
          </a:p>
          <a:p>
            <a:r>
              <a:rPr lang="en-US" dirty="0" err="1"/>
              <a:t>Characterised</a:t>
            </a:r>
            <a:r>
              <a:rPr lang="en-US" dirty="0"/>
              <a:t> by high speeds, high turnover rates and high order-to-trade ratios.</a:t>
            </a:r>
          </a:p>
          <a:p>
            <a:r>
              <a:rPr lang="en-US" dirty="0"/>
              <a:t>Analyse high frequency tick data from LOB.</a:t>
            </a:r>
          </a:p>
          <a:p>
            <a:r>
              <a:rPr lang="en-US" dirty="0"/>
              <a:t>Can we predict the short-term price direction of a stock by </a:t>
            </a:r>
            <a:r>
              <a:rPr lang="en-US" dirty="0" err="1"/>
              <a:t>analysing</a:t>
            </a:r>
            <a:r>
              <a:rPr lang="en-US" dirty="0"/>
              <a:t> recent LOB ticks?</a:t>
            </a:r>
          </a:p>
        </p:txBody>
      </p:sp>
    </p:spTree>
    <p:extLst>
      <p:ext uri="{BB962C8B-B14F-4D97-AF65-F5344CB8AC3E}">
        <p14:creationId xmlns:p14="http://schemas.microsoft.com/office/powerpoint/2010/main" val="34032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1796E-E25E-47B6-A273-D7118257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deep learning be applied to </a:t>
            </a:r>
            <a:r>
              <a:rPr lang="en-US" dirty="0" err="1"/>
              <a:t>hft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51EA8-2E5F-409F-B6B6-0D44A1396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CNN-LSTMs have been used with some success by capturing the spatial structure of entire LOB. </a:t>
            </a:r>
            <a:r>
              <a:rPr lang="en-US" dirty="0" err="1"/>
              <a:t>DeepLOB</a:t>
            </a:r>
            <a:r>
              <a:rPr lang="en-US" dirty="0"/>
              <a:t>, Zhang et al. 2019</a:t>
            </a:r>
          </a:p>
          <a:p>
            <a:r>
              <a:rPr lang="en-US" dirty="0"/>
              <a:t>Deep reinforcement learning, </a:t>
            </a:r>
            <a:r>
              <a:rPr lang="en-US" dirty="0" err="1"/>
              <a:t>Briola</a:t>
            </a:r>
            <a:r>
              <a:rPr lang="en-US" dirty="0"/>
              <a:t> et al. 2016 </a:t>
            </a:r>
          </a:p>
          <a:p>
            <a:r>
              <a:rPr lang="en-US" dirty="0"/>
              <a:t>LSTMs have shown impressive results. </a:t>
            </a:r>
            <a:r>
              <a:rPr lang="en-US" dirty="0" err="1"/>
              <a:t>Cont</a:t>
            </a:r>
            <a:r>
              <a:rPr lang="en-US" dirty="0"/>
              <a:t> et al. 2018, Tu 2020</a:t>
            </a:r>
          </a:p>
          <a:p>
            <a:r>
              <a:rPr lang="en-US" dirty="0"/>
              <a:t>Full access to the LOB is hard to come by.</a:t>
            </a:r>
          </a:p>
          <a:p>
            <a:r>
              <a:rPr lang="en-US" dirty="0"/>
              <a:t>LSTMs work best on regularly sampled time series data but fail to account for arbitrary time lags between samples.</a:t>
            </a:r>
          </a:p>
        </p:txBody>
      </p:sp>
    </p:spTree>
    <p:extLst>
      <p:ext uri="{BB962C8B-B14F-4D97-AF65-F5344CB8AC3E}">
        <p14:creationId xmlns:p14="http://schemas.microsoft.com/office/powerpoint/2010/main" val="4259752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35EC8-8228-4924-BDE6-B624AA79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964692"/>
            <a:ext cx="5894832" cy="1188720"/>
          </a:xfrm>
        </p:spPr>
        <p:txBody>
          <a:bodyPr>
            <a:normAutofit/>
          </a:bodyPr>
          <a:lstStyle/>
          <a:p>
            <a:r>
              <a:rPr lang="en-US" dirty="0"/>
              <a:t>Neural 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60A95-1BF8-4BF6-98D5-9EF3DEA6B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43" y="2638044"/>
            <a:ext cx="5963317" cy="3263206"/>
          </a:xfrm>
        </p:spPr>
        <p:txBody>
          <a:bodyPr>
            <a:normAutofit/>
          </a:bodyPr>
          <a:lstStyle/>
          <a:p>
            <a:r>
              <a:rPr lang="en-US" dirty="0" err="1"/>
              <a:t>Duvenaud</a:t>
            </a:r>
            <a:r>
              <a:rPr lang="en-US" dirty="0"/>
              <a:t> et al. 2018</a:t>
            </a:r>
          </a:p>
          <a:p>
            <a:r>
              <a:rPr lang="en-US" dirty="0"/>
              <a:t>Let fully-connected neural network represent an ordinary differential equation</a:t>
            </a:r>
          </a:p>
          <a:p>
            <a:r>
              <a:rPr lang="en-US" dirty="0"/>
              <a:t>Neural ODE represents the progression of the hidden state continuously.</a:t>
            </a:r>
          </a:p>
          <a:p>
            <a:r>
              <a:rPr lang="en-US" dirty="0"/>
              <a:t>Solve the ODE numerically using methods like </a:t>
            </a:r>
            <a:r>
              <a:rPr lang="en-US" dirty="0" err="1"/>
              <a:t>euler</a:t>
            </a:r>
            <a:r>
              <a:rPr lang="en-US" dirty="0"/>
              <a:t>, </a:t>
            </a:r>
            <a:r>
              <a:rPr lang="en-US" dirty="0" err="1"/>
              <a:t>dopri</a:t>
            </a:r>
            <a:r>
              <a:rPr lang="en-US" dirty="0"/>
              <a:t>, rk4 etc.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9398A9-0D0D-4901-BDDF-B3D93CECA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6706" y="964692"/>
            <a:ext cx="3986784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FEC3B-E514-4E21-B2CB-7903A7356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1298" y="1128683"/>
            <a:ext cx="3657600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A5E01D46-6111-4F2B-80CA-E9D3DA87C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890" y="1960051"/>
            <a:ext cx="3328416" cy="294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EB73-6B69-4E86-AF89-37A9C350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Ode-</a:t>
            </a:r>
            <a:r>
              <a:rPr lang="en-US" dirty="0" err="1"/>
              <a:t>lstm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63955-7D3A-4DD0-8F70-9BA4FFD96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Continuous nature of Neural ODE is perfect for modelling time (irregularly sampled data).</a:t>
            </a:r>
          </a:p>
          <a:p>
            <a:r>
              <a:rPr lang="en-US" dirty="0"/>
              <a:t>ODE-LSTM proposed by </a:t>
            </a:r>
            <a:r>
              <a:rPr lang="en-US" dirty="0" err="1"/>
              <a:t>Lechnar</a:t>
            </a:r>
            <a:r>
              <a:rPr lang="en-US" dirty="0"/>
              <a:t> and </a:t>
            </a:r>
            <a:r>
              <a:rPr lang="en-US" dirty="0" err="1"/>
              <a:t>Hasani</a:t>
            </a:r>
            <a:r>
              <a:rPr lang="en-US" dirty="0"/>
              <a:t> in December 2020.</a:t>
            </a:r>
          </a:p>
          <a:p>
            <a:r>
              <a:rPr lang="en-US" dirty="0"/>
              <a:t>Leaves the memory of LSTM cell untouched to allow for learning long-term dependencies.</a:t>
            </a:r>
          </a:p>
          <a:p>
            <a:r>
              <a:rPr lang="en-US" dirty="0"/>
              <a:t>Includes an ODE layer which can be solved as initial value problem from t0 to t1.</a:t>
            </a:r>
          </a:p>
          <a:p>
            <a:r>
              <a:rPr lang="en-US" dirty="0"/>
              <a:t>Incorporates the arbitrary time lag using continuous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3958541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A8750-F085-4B2A-BD4B-9FB06036A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ODE-Lstm</a:t>
            </a:r>
          </a:p>
        </p:txBody>
      </p:sp>
      <p:pic>
        <p:nvPicPr>
          <p:cNvPr id="13" name="Content Placeholder 12" descr="Text&#10;&#10;Description automatically generated">
            <a:extLst>
              <a:ext uri="{FF2B5EF4-FFF2-40B4-BE49-F238E27FC236}">
                <a16:creationId xmlns:a16="http://schemas.microsoft.com/office/drawing/2014/main" id="{E0037270-6726-4A75-B218-C31C7FD84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497" y="640078"/>
            <a:ext cx="9569006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7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D44F6-1E12-4EEF-BD13-9828131A7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Data selection</a:t>
            </a:r>
          </a:p>
        </p:txBody>
      </p:sp>
      <p:pic>
        <p:nvPicPr>
          <p:cNvPr id="9" name="Content Placeholder 8" descr="Table&#10;&#10;Description automatically generated">
            <a:extLst>
              <a:ext uri="{FF2B5EF4-FFF2-40B4-BE49-F238E27FC236}">
                <a16:creationId xmlns:a16="http://schemas.microsoft.com/office/drawing/2014/main" id="{278B039C-95EA-429D-99C2-F6FE5904C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5267" y="939201"/>
            <a:ext cx="10921466" cy="270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91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2D44F6-1E12-4EEF-BD13-9828131A7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Data selection</a:t>
            </a:r>
          </a:p>
        </p:txBody>
      </p:sp>
      <p:pic>
        <p:nvPicPr>
          <p:cNvPr id="6" name="Content Placeholder 5" descr="Table&#10;&#10;Description automatically generated">
            <a:extLst>
              <a:ext uri="{FF2B5EF4-FFF2-40B4-BE49-F238E27FC236}">
                <a16:creationId xmlns:a16="http://schemas.microsoft.com/office/drawing/2014/main" id="{27EBFCD8-52C5-479D-91B8-6DFD81E58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5267" y="966504"/>
            <a:ext cx="10921466" cy="264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7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DEF86-38EF-4127-89D3-6BD23C452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2400"/>
              <a:t>Network architecture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50B8F37D-3753-4AAF-BD05-8658CC6706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94376" y="1378740"/>
            <a:ext cx="6257544" cy="378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39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37F10-B96D-4E37-8884-E0B11371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9D827-427D-4BF3-8D40-E1F7EE66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Preliminary results yet to show a significant improvement to standard LSTM.</a:t>
            </a:r>
          </a:p>
          <a:p>
            <a:r>
              <a:rPr lang="en-US" dirty="0"/>
              <a:t>Training times are very long, even on </a:t>
            </a:r>
            <a:r>
              <a:rPr lang="en-US" dirty="0" err="1"/>
              <a:t>BluePebble</a:t>
            </a:r>
            <a:r>
              <a:rPr lang="en-US" dirty="0"/>
              <a:t> GPUs.</a:t>
            </a:r>
          </a:p>
          <a:p>
            <a:r>
              <a:rPr lang="en-US" dirty="0"/>
              <a:t>Train and test samples not as big as I would want.</a:t>
            </a:r>
          </a:p>
          <a:p>
            <a:r>
              <a:rPr lang="en-US" dirty="0"/>
              <a:t>Does achieve ~70% accuracy.</a:t>
            </a:r>
          </a:p>
          <a:p>
            <a:r>
              <a:rPr lang="en-US" dirty="0"/>
              <a:t>Metrics for evaluation are accuracy, precision, recall, F1-score.</a:t>
            </a:r>
          </a:p>
          <a:p>
            <a:r>
              <a:rPr lang="en-US" dirty="0"/>
              <a:t>Trading simulation in progress.</a:t>
            </a:r>
          </a:p>
        </p:txBody>
      </p:sp>
    </p:spTree>
    <p:extLst>
      <p:ext uri="{BB962C8B-B14F-4D97-AF65-F5344CB8AC3E}">
        <p14:creationId xmlns:p14="http://schemas.microsoft.com/office/powerpoint/2010/main" val="34848776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77AE-49C6-4E17-883D-73F75FD3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21ACB-A323-4E17-ABE7-66F988E4C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9836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374</TotalTime>
  <Words>1010</Words>
  <Application>Microsoft Office PowerPoint</Application>
  <PresentationFormat>Widescreen</PresentationFormat>
  <Paragraphs>122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Gill Sans MT</vt:lpstr>
      <vt:lpstr>Parcel</vt:lpstr>
      <vt:lpstr>Building a high-frequency trading algorithm using an ordinary differential equation recurrent neural network</vt:lpstr>
      <vt:lpstr>Financial markets</vt:lpstr>
      <vt:lpstr>Limit order book</vt:lpstr>
      <vt:lpstr>High-frequency trading</vt:lpstr>
      <vt:lpstr>Can deep learning be applied to hft?</vt:lpstr>
      <vt:lpstr>Neural ODE</vt:lpstr>
      <vt:lpstr>Ode-lstm</vt:lpstr>
      <vt:lpstr>ODE-Lstm</vt:lpstr>
      <vt:lpstr>Data selection</vt:lpstr>
      <vt:lpstr>Data selection</vt:lpstr>
      <vt:lpstr>Network architecture</vt:lpstr>
      <vt:lpstr>evaluation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high-frequency trading algorithm using an ordinary differential equation recurrent neural network</dc:title>
  <dc:creator>Angus Parsonson</dc:creator>
  <cp:lastModifiedBy>Angus Parsonson</cp:lastModifiedBy>
  <cp:revision>24</cp:revision>
  <dcterms:created xsi:type="dcterms:W3CDTF">2021-05-07T09:02:06Z</dcterms:created>
  <dcterms:modified xsi:type="dcterms:W3CDTF">2021-05-07T15:16:22Z</dcterms:modified>
</cp:coreProperties>
</file>